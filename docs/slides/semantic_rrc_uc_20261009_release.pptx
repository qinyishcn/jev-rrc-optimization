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3f9836af064faa" /><Relationship Type="http://schemas.openxmlformats.org/officeDocument/2006/relationships/extended-properties" Target="/docProps/app.xml" Id="R617baf40e44744d0" /><Relationship Type="http://schemas.openxmlformats.org/officeDocument/2006/relationships/officeDocument" Target="/ppt/presentation.xml" Id="R2d935eb4bec7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ba5e3c829c4b3d"/>
  </p:sldMasterIdLst>
  <p:notesMasterIdLst>
    <p:notesMasterId xmlns:r="http://schemas.openxmlformats.org/officeDocument/2006/relationships" r:id="R1e8f8fbaee224af6"/>
  </p:notesMasterIdLst>
  <p:sldIdLst>
    <p:sldId xmlns:r="http://schemas.openxmlformats.org/officeDocument/2006/relationships" id="256" r:id="R8f6717f7ef6e47bb"/>
    <p:sldId xmlns:r="http://schemas.openxmlformats.org/officeDocument/2006/relationships" id="257" r:id="Rc47d9d7937984cd7"/>
    <p:sldId xmlns:r="http://schemas.openxmlformats.org/officeDocument/2006/relationships" id="258" r:id="R2bb497b2d64a4035"/>
    <p:sldId xmlns:r="http://schemas.openxmlformats.org/officeDocument/2006/relationships" id="259" r:id="R5f5ef05ab2004e65"/>
    <p:sldId xmlns:r="http://schemas.openxmlformats.org/officeDocument/2006/relationships" id="260" r:id="R23ca440817f845a7"/>
    <p:sldId xmlns:r="http://schemas.openxmlformats.org/officeDocument/2006/relationships" id="261" r:id="R57caacbb0dc8419e"/>
    <p:sldId xmlns:r="http://schemas.openxmlformats.org/officeDocument/2006/relationships" id="262" r:id="Rd81f5b3fe5614419"/>
    <p:sldId xmlns:r="http://schemas.openxmlformats.org/officeDocument/2006/relationships" id="263" r:id="R54bc5642f11a4156"/>
    <p:sldId xmlns:r="http://schemas.openxmlformats.org/officeDocument/2006/relationships" id="264" r:id="R789b9a769ecb494a"/>
    <p:sldId xmlns:r="http://schemas.openxmlformats.org/officeDocument/2006/relationships" id="265" r:id="R442f759510ae4fe2"/>
    <p:sldId xmlns:r="http://schemas.openxmlformats.org/officeDocument/2006/relationships" id="266" r:id="Raecf8883ec2e4e88"/>
    <p:sldId xmlns:r="http://schemas.openxmlformats.org/officeDocument/2006/relationships" id="267" r:id="R78136d972f4d4d6a"/>
    <p:sldId xmlns:r="http://schemas.openxmlformats.org/officeDocument/2006/relationships" id="268" r:id="Rc69fd87a65a94d5b"/>
    <p:sldId xmlns:r="http://schemas.openxmlformats.org/officeDocument/2006/relationships" id="269" r:id="R99b79a6ebf01455f"/>
    <p:sldId xmlns:r="http://schemas.openxmlformats.org/officeDocument/2006/relationships" id="270" r:id="Rf6b4b43dae5a4d2f"/>
    <p:sldId xmlns:r="http://schemas.openxmlformats.org/officeDocument/2006/relationships" id="271" r:id="R304330e37ea24e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f1eee9795a42f1" /><Relationship Type="http://schemas.openxmlformats.org/officeDocument/2006/relationships/slideMaster" Target="/ppt/slideMasters/slideMaster1.xml" Id="R02ba5e3c829c4b3d" /><Relationship Type="http://schemas.openxmlformats.org/officeDocument/2006/relationships/notesMaster" Target="/ppt/notesMasters/notesMaster1.xml" Id="R1e8f8fbaee224af6" /><Relationship Type="http://schemas.openxmlformats.org/officeDocument/2006/relationships/presProps" Target="/ppt/presProps.xml" Id="R10261eba7dd24f14" /><Relationship Type="http://schemas.openxmlformats.org/officeDocument/2006/relationships/tableStyles" Target="/ppt/tableStyles.xml" Id="Rf17a7e6d0129490b" /><Relationship Type="http://schemas.openxmlformats.org/officeDocument/2006/relationships/slide" Target="/ppt/slides/slide1.xml" Id="R8f6717f7ef6e47bb" /><Relationship Type="http://schemas.openxmlformats.org/officeDocument/2006/relationships/slide" Target="/ppt/slides/slide2.xml" Id="Rc47d9d7937984cd7" /><Relationship Type="http://schemas.openxmlformats.org/officeDocument/2006/relationships/slide" Target="/ppt/slides/slide3.xml" Id="R2bb497b2d64a4035" /><Relationship Type="http://schemas.openxmlformats.org/officeDocument/2006/relationships/slide" Target="/ppt/slides/slide4.xml" Id="R5f5ef05ab2004e65" /><Relationship Type="http://schemas.openxmlformats.org/officeDocument/2006/relationships/slide" Target="/ppt/slides/slide5.xml" Id="R23ca440817f845a7" /><Relationship Type="http://schemas.openxmlformats.org/officeDocument/2006/relationships/slide" Target="/ppt/slides/slide6.xml" Id="R57caacbb0dc8419e" /><Relationship Type="http://schemas.openxmlformats.org/officeDocument/2006/relationships/slide" Target="/ppt/slides/slide7.xml" Id="Rd81f5b3fe5614419" /><Relationship Type="http://schemas.openxmlformats.org/officeDocument/2006/relationships/slide" Target="/ppt/slides/slide8.xml" Id="R54bc5642f11a4156" /><Relationship Type="http://schemas.openxmlformats.org/officeDocument/2006/relationships/slide" Target="/ppt/slides/slide9.xml" Id="R789b9a769ecb494a" /><Relationship Type="http://schemas.openxmlformats.org/officeDocument/2006/relationships/slide" Target="/ppt/slides/slide10.xml" Id="R442f759510ae4fe2" /><Relationship Type="http://schemas.openxmlformats.org/officeDocument/2006/relationships/slide" Target="/ppt/slides/slide11.xml" Id="Raecf8883ec2e4e88" /><Relationship Type="http://schemas.openxmlformats.org/officeDocument/2006/relationships/slide" Target="/ppt/slides/slide12.xml" Id="R78136d972f4d4d6a" /><Relationship Type="http://schemas.openxmlformats.org/officeDocument/2006/relationships/slide" Target="/ppt/slides/slide13.xml" Id="Rc69fd87a65a94d5b" /><Relationship Type="http://schemas.openxmlformats.org/officeDocument/2006/relationships/slide" Target="/ppt/slides/slide14.xml" Id="R99b79a6ebf01455f" /><Relationship Type="http://schemas.openxmlformats.org/officeDocument/2006/relationships/slide" Target="/ppt/slides/slide15.xml" Id="Rf6b4b43dae5a4d2f" /><Relationship Type="http://schemas.openxmlformats.org/officeDocument/2006/relationships/slide" Target="/ppt/slides/slide16.xml" Id="R304330e37ea2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3e158d204040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130d0eebb34d11" /><Relationship Type="http://schemas.openxmlformats.org/officeDocument/2006/relationships/notesMaster" Target="/ppt/notesMasters/notesMaster1.xml" Id="R927f3ed4db3742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1874926ad449aa" /><Relationship Type="http://schemas.openxmlformats.org/officeDocument/2006/relationships/notesMaster" Target="/ppt/notesMasters/notesMaster1.xml" Id="R3bdd11cf204c4e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46df20a92d42d1" /><Relationship Type="http://schemas.openxmlformats.org/officeDocument/2006/relationships/notesMaster" Target="/ppt/notesMasters/notesMaster1.xml" Id="R7991001346b340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d4e62cf55e42e0" /><Relationship Type="http://schemas.openxmlformats.org/officeDocument/2006/relationships/notesMaster" Target="/ppt/notesMasters/notesMaster1.xml" Id="Rbd570fc729b648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d34b8639444e83" /><Relationship Type="http://schemas.openxmlformats.org/officeDocument/2006/relationships/notesMaster" Target="/ppt/notesMasters/notesMaster1.xml" Id="R15c7f53a055c41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f3f2ef38e34147" /><Relationship Type="http://schemas.openxmlformats.org/officeDocument/2006/relationships/notesMaster" Target="/ppt/notesMasters/notesMaster1.xml" Id="Rb22a9445eb8242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e42f958bc54cf7" /><Relationship Type="http://schemas.openxmlformats.org/officeDocument/2006/relationships/notesMaster" Target="/ppt/notesMasters/notesMaster1.xml" Id="R3534651971d042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1366f9a14f43d5" /><Relationship Type="http://schemas.openxmlformats.org/officeDocument/2006/relationships/notesMaster" Target="/ppt/notesMasters/notesMaster1.xml" Id="Re11402462e2b44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7f541cbe514943" /><Relationship Type="http://schemas.openxmlformats.org/officeDocument/2006/relationships/notesMaster" Target="/ppt/notesMasters/notesMaster1.xml" Id="Rcecb7d30634d43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75169615aa49f2" /><Relationship Type="http://schemas.openxmlformats.org/officeDocument/2006/relationships/notesMaster" Target="/ppt/notesMasters/notesMaster1.xml" Id="R1bddcfb540be43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15f01ea88d46f1" /><Relationship Type="http://schemas.openxmlformats.org/officeDocument/2006/relationships/notesMaster" Target="/ppt/notesMasters/notesMaster1.xml" Id="R8f888cf2e4b749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fab6fbfad54661" /><Relationship Type="http://schemas.openxmlformats.org/officeDocument/2006/relationships/notesMaster" Target="/ppt/notesMasters/notesMaster1.xml" Id="R9bc621b20f244f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6d669feef94531" /><Relationship Type="http://schemas.openxmlformats.org/officeDocument/2006/relationships/notesMaster" Target="/ppt/notesMasters/notesMaster1.xml" Id="Rcc292f62cb6947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6afae0a31045d8" /><Relationship Type="http://schemas.openxmlformats.org/officeDocument/2006/relationships/notesMaster" Target="/ppt/notesMasters/notesMaster1.xml" Id="R5b2814f4b1e944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22b17125324988" /><Relationship Type="http://schemas.openxmlformats.org/officeDocument/2006/relationships/notesMaster" Target="/ppt/notesMasters/notesMaster1.xml" Id="Red927ba3d79441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0d176f352747dc" /><Relationship Type="http://schemas.openxmlformats.org/officeDocument/2006/relationships/notesMaster" Target="/ppt/notesMasters/notesMaster1.xml" Id="Raf2ecd463f1d4e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研究对象是开源 Decider 2B v11。闭源 Jev 未参与测试。正向结果来自业务语义到冻结策略的流水线。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AGV = Automated Guided Vehicle。RRC = Radio Resource Control，无线资源控制。这里只研究 LTE Event A3 的切换参数。既有可靠结构化路线接口优先于文本模型。参考论文 https://arxiv.org/abs/2505.16821 是 LLM RRC 仿真相关工作，不构成本项目参数优化成功的证据。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 为迟滞裕量，单位 dB。TTT = Time-to-Trigger，触发等待时间，单位 ms。RSRP = Reference Signal Received Power，参考信号接收功率。图由 g1 预设轨迹规则计算，展示前 8 秒，非新增测量。跨区轨迹 x=-8+8t，巡检每 2 秒反向，x 范围 [-8,8]。H0/T0 仍经过测量报告与 RRC 信令。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Decider 是本项目采用的 Jev 类开源类型化决策模型，2B v11。输入包括白名单数值和原始调度文本。一次前向给两个合法语义候选打分，取最高分，未做新微调。无线策略通过校准集确定，测试前冻结。此处属于受限动作选择，不是自由生成任意 RRC 代码。https://github.com/qinyishcn/jev-rrc-optimization/blob/2d82463f8fa5b988bb3f16aaed3a25ecf1d3cb7d/system_validation/semantic_uc.py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EPC = Evolved Packet Core，LTE 核心网。X2 是基站间接口。两个基站、一个 UE（User Equipment，用户终端），RR 调度。固定传播环境，未设置变化衰落/阴影、多用户竞争。本次 UC 是 LTE A3，不是 NR DRX。https://github.com/qinyishcn/jev-rrc-optimization/blob/2d82463f8fa5b988bb3f16aaed3a25ecf1d3cb7d/system_validation/ns3_lte_handover.cc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校准：6 物理场景 ×5 配置 ×2 随机运行（91、92）=60。测试：6×5×5（101–105）=150。确认集在 pilot 后、确认推理前冻结，24 新成对语言家族，每家族 2 条独立文本，共48条，乘3几何为144输入。TF-IDF 用32条独立先导文本训练，几何重复先去重。合成英文模板、未使用独立标注员。文本均衡设置穿越/巡检 50/50。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默认选项顺序是主结果。TF-IDF（Term Frequency–Inverse Document Frequency，词频与逆文档频率）加逻辑回归识别文本意图，随后使用相同无线映射。传统结构化意图参考获得100%正确意图，不需要文本模型。图显示确认集复用物理结果的加权指标，不是对1656万独立新包的测量。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95%区间按成对语言家族和共同随机运行做双轴 bootstrap，10,000 次，三种几何固定。单位为百分点，不是相对百分比。区间未包含跨工厂、真实业务或不同传播条件的不确定性。Qwen默认顺序的区间上界为0，不能声明稳定显著优势。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样例 test_7_1_cross，g1，测试随机运行101。原始模型输入只有下列白名单字段和dispatch_text。字段名、原始问句、候选、概率及全部配置结果见example.json。这里为完整9字段，不含真实未来轨迹、标签、场景ID、随机种子或结果。https://github.com/qinyishcn/jev-rrc-optimization/blob/2d82463f8fa5b988bb3f16aaed3a25ecf1d3cb7d/artifacts/semantic_uc/exampl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跨区文本和全部数值在上一页。巡检原文：Oscillate between the near-side and far-side markers; neither endpoint is a final destination. 两例全部数值相同。Decider穿越概率0.997809、巡检概率0.997688。穿越的TF-IDF将no turnaround误判为巡检。巡检H2/T160等也零违约，多档并列，不能把该例解释为唯一最优。两例均来自先导测试，不是确认集汇总。https://github.com/qinyishcn/jev-rrc-optimization/blob/2d82463f8fa5b988bb3f16aaed3a25ecf1d3cb7d/artifacts/semantic_uc/exampl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确认集原序/反序准确率：Decider141/144、144/144，Qwen单次前向132/144、91/144。反序指两个语义选项交换。确认时延：RTX3070 8GB，bf16、batch1、eager、8 CPU线程，加载排除，至少3次预热，计时包含相同额外CPU tokenization，顺序执行，非随机交错重复测量。pilot同提示生成Qwen1057.75985ms vs Decider167.87475ms约6.3倍，主要由自回归和单前向的方式差异造成。TF-IDF CPU P50约0.63ms。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基础Decider直接输出H2/T160，循环旋转五档选项60/60保持H2，可排除该测试中的简单位置偏好。上下文142–231token低于1536 cap，没有截断。清晰语义表示使路线识别12/24到24/24，直接配置仍无条件变化。旧LoRA32场景、2epoch、gradacc4，共16optimizer updates、208896 q/v训练参数，5种顺序0/12场景动作稳定。旧实验强规则已接近候选集上限，部分候选KPI并列，单一分类标签不等价于最小网络损失。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错误文本confirm_22_*_cross：This AGV has a terminal eastward route. Another AGV handles the recurring boundary patrol. 默认顺序将另一辆车的巡检任务归给当前车辆。交换选项后修正，不能事后挑选100%反序结果作为主结果。训练和确认英文模板均由研究者手写。物理运动、50/50类别比例、高负载、固定传播、单UE是受限条件。当前约184ms预决策不能放进20ms逐包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来自既有研究计划docs/rrc_cause_semantic_uc.md及next_validation.md。以下为尚未执行的计划。优先验证应用前提，若已有可靠结构化路线接口，直接用传统控制器。需要按工厂/车辆/模板划分独立测试，冻结策略后随机交错控制器。记录推理、配置下发、生效失败、切换中断、包期限、信令/资源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结论严格对应确认集默认顺序。相对固定配置下降80.6%，相对同文本TF-IDF下降74.5%。正确结构化意图控制器0.05%更好。Qwen默认序差值95%区间触0，速度相对onepass仅1.05倍。当前证据支持非结构化语义接口的价值，不支持模型已优于可靠结构化传统控制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99为每个场景的收到包P99的均值，不是全体包混合P99，丢失包不进入P99。超时/丢包率包含lost与late_received。平均切换次数为每会话。准确率是144输入中的比率，只有48独立文本，跨几何重复不独立。关键词改进版52.08%、0.5282%，原关键词43.75%、0.6471%。表中保留改进版作为传统解析的补充，不以其作为主增益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证据快照：2026-10-08。PPT 编制：2026-10-09。</a:t>
            </a:r>
          </a:p>
          <a:p xmlns:a="http://schemas.openxmlformats.org/drawingml/2006/main">
            <a:r>
              <a:t>https://github.com/qinyishcn/jev-rrc-optimization/blob/2d82463f8fa5b988bb3f16aaed3a25ecf1d3cb7d/docs/rrc_cause_semantic_uc.md</a:t>
            </a:r>
          </a:p>
          <a:p xmlns:a="http://schemas.openxmlformats.org/drawingml/2006/main">
            <a:r>
              <a:t>https://github.com/qinyishcn/jev-rrc-optimization/blob/2d82463f8fa5b988bb3f16aaed3a25ecf1d3cb7d/artifacts/semantic_uc/summary.json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30b28a78b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c3ac5222d14752" /><Relationship Type="http://schemas.openxmlformats.org/officeDocument/2006/relationships/slideLayout" Target="/ppt/slideLayouts/slideLayout1.xml" Id="R5580706479b5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80706479b5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18baf85164bad" /><Relationship Type="http://schemas.openxmlformats.org/officeDocument/2006/relationships/notesSlide" Target="/ppt/notesSlides/notesSlide1.xml" Id="R7f393b9c572b4c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01f68115749de" /><Relationship Type="http://schemas.openxmlformats.org/officeDocument/2006/relationships/notesSlide" Target="/ppt/notesSlides/notesSlide2.xml" Id="R16126c2c9f2f4a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d6521f7bb447a" /><Relationship Type="http://schemas.openxmlformats.org/officeDocument/2006/relationships/chart" Target="/ppt/slides/charts/chart1.xml" Id="R104b53e700ff4405" /><Relationship Type="http://schemas.openxmlformats.org/officeDocument/2006/relationships/notesSlide" Target="/ppt/notesSlides/notesSlide3.xml" Id="Rb2a64fcb83ea45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e0b9d1f28468c" /><Relationship Type="http://schemas.openxmlformats.org/officeDocument/2006/relationships/notesSlide" Target="/ppt/notesSlides/notesSlide4.xml" Id="Rce25f1904c034f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5e05ef23e44c3" /><Relationship Type="http://schemas.openxmlformats.org/officeDocument/2006/relationships/notesSlide" Target="/ppt/notesSlides/notesSlide5.xml" Id="R58ca87ce436d4e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7b812b35f4b1f" /><Relationship Type="http://schemas.openxmlformats.org/officeDocument/2006/relationships/notesSlide" Target="/ppt/notesSlides/notesSlide6.xml" Id="R58319e4ee16444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ce6c98de44838" /><Relationship Type="http://schemas.openxmlformats.org/officeDocument/2006/relationships/chart" Target="/ppt/slides/charts/chart2.xml" Id="Rcb51e79474244dfb" /><Relationship Type="http://schemas.openxmlformats.org/officeDocument/2006/relationships/notesSlide" Target="/ppt/notesSlides/notesSlide7.xml" Id="Rfa707354128445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f681d67e446ef" /><Relationship Type="http://schemas.openxmlformats.org/officeDocument/2006/relationships/notesSlide" Target="/ppt/notesSlides/notesSlide8.xml" Id="R5d20057a876046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f2e390184491d" /><Relationship Type="http://schemas.openxmlformats.org/officeDocument/2006/relationships/notesSlide" Target="/ppt/notesSlides/notesSlide9.xml" Id="R5f66084a24e54d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a2b849a3d48cb" /><Relationship Type="http://schemas.openxmlformats.org/officeDocument/2006/relationships/notesSlide" Target="/ppt/notesSlides/notesSlide10.xml" Id="R3cf23b46bd3743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5de9151bc42f2" /><Relationship Type="http://schemas.openxmlformats.org/officeDocument/2006/relationships/chart" Target="/ppt/slides/charts/chart3.xml" Id="Rc259a4d786cb49e8" /><Relationship Type="http://schemas.openxmlformats.org/officeDocument/2006/relationships/notesSlide" Target="/ppt/notesSlides/notesSlide11.xml" Id="R10fb02f5c36c44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910303a6449e5" /><Relationship Type="http://schemas.openxmlformats.org/officeDocument/2006/relationships/notesSlide" Target="/ppt/notesSlides/notesSlide12.xml" Id="Raf6e101e5c2442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5afee84554444" /><Relationship Type="http://schemas.openxmlformats.org/officeDocument/2006/relationships/notesSlide" Target="/ppt/notesSlides/notesSlide13.xml" Id="R3cb2ceb97ac944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23d2e564245d3" /><Relationship Type="http://schemas.openxmlformats.org/officeDocument/2006/relationships/notesSlide" Target="/ppt/notesSlides/notesSlide14.xml" Id="R2d7a2a77755340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39d851ba94037" /><Relationship Type="http://schemas.openxmlformats.org/officeDocument/2006/relationships/notesSlide" Target="/ppt/notesSlides/notesSlide15.xml" Id="Ra830ef2477ca44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96986fb6c49d7" /><Relationship Type="http://schemas.openxmlformats.org/officeDocument/2006/relationships/notesSlide" Target="/ppt/notesSlides/notesSlide16.xml" Id="R9a76740483fd4d7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单向穿越</c:v>
          </c:tx>
          <c:spPr>
            <a:ln xmlns:a="http://schemas.openxmlformats.org/drawingml/2006/main" w="28575">
              <a:solidFill>
                <a:srgbClr val="007F86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6"/>
              </a:solidFill>
            </c:spPr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'Chart Data'!$B$2:$B$10</c:f>
              <c:numCache>
                <c:formatCode>0</c:formatCode>
                <c:ptCount val="9"/>
                <c:pt idx="0">
                  <c:v>-8</c:v>
                </c:pt>
                <c:pt idx="1">
                  <c:v>0</c:v>
                </c:pt>
                <c:pt idx="2">
                  <c:v>8</c:v>
                </c:pt>
                <c:pt idx="3">
                  <c:v>16</c:v>
                </c:pt>
                <c:pt idx="4">
                  <c:v>24</c:v>
                </c:pt>
                <c:pt idx="5">
                  <c:v>32</c:v>
                </c:pt>
                <c:pt idx="6">
                  <c:v>40</c:v>
                </c:pt>
                <c:pt idx="7">
                  <c:v>48</c:v>
                </c:pt>
                <c:pt idx="8">
                  <c:v>56</c:v>
                </c:pt>
              </c:numCache>
            </c:numRef>
          </c:val>
          <c:smooth val="0"/>
        </c:ser>
        <c:ser>
          <c:idx val="1"/>
          <c:order val="1"/>
          <c:tx>
            <c:v>边界巡检</c:v>
          </c:tx>
          <c:spPr>
            <a:ln xmlns:a="http://schemas.openxmlformats.org/drawingml/2006/main" w="28575">
              <a:solidFill>
                <a:srgbClr val="B8612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B86128"/>
              </a:solidFill>
            </c:spPr>
          </c:marker>
          <c:cat>
            <c:numRef>
              <c:f>'Chart Data'!$C$2:$C$10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'Chart Data'!$D$2:$D$10</c:f>
              <c:numCache>
                <c:formatCode>0</c:formatCode>
                <c:ptCount val="9"/>
                <c:pt idx="0">
                  <c:v>-8</c:v>
                </c:pt>
                <c:pt idx="1">
                  <c:v>0</c:v>
                </c:pt>
                <c:pt idx="2">
                  <c:v>8</c:v>
                </c:pt>
                <c:pt idx="3">
                  <c:v>0</c:v>
                </c:pt>
                <c:pt idx="4">
                  <c:v>-8</c:v>
                </c:pt>
                <c:pt idx="5">
                  <c:v>0</c:v>
                </c:pt>
                <c:pt idx="6">
                  <c:v>8</c:v>
                </c:pt>
                <c:pt idx="7">
                  <c:v>0</c:v>
                </c:pt>
                <c:pt idx="8">
                  <c:v>-8</c:v>
                </c:pt>
              </c:numCache>
            </c:numRef>
          </c:val>
          <c:smooth val="0"/>
        </c:ser>
        <c:ser>
          <c:idx val="2"/>
          <c:order val="2"/>
          <c:tx>
            <c:v>小区边界</c:v>
          </c:tx>
          <c:spPr>
            <a:ln xmlns:a="http://schemas.openxmlformats.org/drawingml/2006/main" w="9525">
              <a:solidFill>
                <a:srgbClr val="A7B5C0"/>
              </a:solidFill>
            </a:ln>
          </c:spPr>
          <c:marker>
            <c:symbol val="none"/>
          </c:marker>
          <c:cat>
            <c:numRef>
              <c:f>'Chart Data'!$E$2:$E$10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'Chart Data'!$F$2:$F$10</c:f>
              <c:numCache>
                <c:formatCode>0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时间（s）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相对边界位置（m）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5F8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5F8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超时/丢包率</c:v>
          </c:tx>
          <c:spPr>
            <a:solidFill xmlns:a="http://schemas.openxmlformats.org/drawingml/2006/main">
              <a:srgbClr val="A7B5C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B5C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7B5C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B5C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7F86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878A5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校准固定</c:v>
                </c:pt>
                <c:pt idx="1">
                  <c:v>TF-IDF + 策略</c:v>
                </c:pt>
                <c:pt idx="2">
                  <c:v>Qwen 单次前向</c:v>
                </c:pt>
                <c:pt idx="3">
                  <c:v>Decider + 策略</c:v>
                </c:pt>
                <c:pt idx="4">
                  <c:v>已知结构化意图</c:v>
                </c:pt>
              </c:strCache>
            </c:strRef>
          </c:cat>
          <c:val>
            <c:numRef>
              <c:f>'Chart Data'!$B$2:$B$6</c:f>
              <c:numCache>
                <c:formatCode>0.0000%</c:formatCode>
                <c:ptCount val="5"/>
                <c:pt idx="0">
                  <c:v>0.00314637681159</c:v>
                </c:pt>
                <c:pt idx="1">
                  <c:v>0.00239057971014</c:v>
                </c:pt>
                <c:pt idx="2">
                  <c:v>0.000941062801932</c:v>
                </c:pt>
                <c:pt idx="3">
                  <c:v>0.000610265700483</c:v>
                </c:pt>
                <c:pt idx="4">
                  <c:v>0.0005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02B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0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1E7"/>
              </a:solidFill>
            </a:ln>
          </c:spPr>
        </c:majorGridlines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01"/>
      </c:valAx>
      <c:spPr>
        <a:solidFill xmlns:a="http://schemas.openxmlformats.org/drawingml/2006/main">
          <a:srgbClr val="F5F8F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5F8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默认顺序</c:v>
          </c:tx>
          <c:spPr>
            <a:solidFill xmlns:a="http://schemas.openxmlformats.org/drawingml/2006/main">
              <a:srgbClr val="007F86"/>
            </a:solidFill>
          </c:spPr>
          <c:cat>
            <c:strRef>
              <c:f>'Chart Data'!$A$2:$A$3</c:f>
              <c:strCache>
                <c:ptCount val="2"/>
                <c:pt idx="0">
                  <c:v>Decider</c:v>
                </c:pt>
                <c:pt idx="1">
                  <c:v>Qwen 单次前向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0.979166666667</c:v>
                </c:pt>
                <c:pt idx="1">
                  <c:v>0.916666666667</c:v>
                </c:pt>
              </c:numCache>
            </c:numRef>
          </c:val>
        </c:ser>
        <c:ser>
          <c:idx val="1"/>
          <c:order val="1"/>
          <c:tx>
            <c:v>交换顺序</c:v>
          </c:tx>
          <c:spPr>
            <a:solidFill xmlns:a="http://schemas.openxmlformats.org/drawingml/2006/main">
              <a:srgbClr val="A7B5C0"/>
            </a:solidFill>
          </c:spPr>
          <c:cat>
            <c:strRef>
              <c:f>'Chart Data'!$C$2:$C$3</c:f>
              <c:strCache>
                <c:ptCount val="2"/>
                <c:pt idx="0">
                  <c:v>Decider</c:v>
                </c:pt>
                <c:pt idx="1">
                  <c:v>Qwen 单次前向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1</c:v>
                </c:pt>
                <c:pt idx="1">
                  <c:v>0.631944444444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7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8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5F8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61B90D3-1C9F-4C35-89F9-B4EEFF7D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C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CA8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D50CBD4-7C59-4A4B-9A2E-FB50F09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业务语义辅助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RRC 配置优化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8070571-79B8-4C07-9B58-DAE4421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EE7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BEE7E6"/>
                </a:solidFill>
                <a:latin typeface="Microsoft YaHei"/>
                <a:ea typeface="Microsoft YaHei"/>
                <a:cs typeface="Microsoft YaHei"/>
              </a:rPr>
              <a:t>Decider 在 AGV 穿越与边界巡检场景中的验证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751C632-5C7C-4896-BF80-6E21C846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19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8D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8DBE6"/>
                </a:solidFill>
                <a:latin typeface="Microsoft YaHei"/>
                <a:ea typeface="Microsoft YaHei"/>
                <a:cs typeface="Microsoft YaHei"/>
              </a:rPr>
              <a:t>LTE A3 系统仿真 · 研究进展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2E9E5B-4FA7-49D9-A952-7BF90A17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15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C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CA8B8"/>
                </a:solidFill>
                <a:latin typeface="Microsoft YaHei"/>
                <a:ea typeface="Microsoft YaHei"/>
                <a:cs typeface="Microsoft YaHei"/>
              </a:rPr>
              <a:t>2026.10.09</a:t>
            </a:r>
          </a:p>
        </p:txBody>
      </p:sp>
    </p:spTree>
    <p:extLst>
      <p:ext uri="{BB962C8B-B14F-4D97-AF65-F5344CB8AC3E}">
        <p14:creationId xmlns:p14="http://schemas.microsoft.com/office/powerpoint/2010/main" val="599866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454A34C8-783E-4BB4-9F96-6A9A15FF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研究背景：瞬时运动相同，后续任务不同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CD697A5-9384-459E-BBAB-6D34920D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AGV（Automated Guided Vehicle，自动导引运输车）的小区边界移动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627778E-2D23-4504-B224-EF7A13FB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0134E9-D7C2-4F16-BD8E-9DF4A108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RRC：Radio Resource Control，无线资源控制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2E6FA7B-2457-45DD-A654-054C0BC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同一位置、同一速度、同一无线环境</a:t>
            </a:r>
          </a:p>
          <a:p xmlns:a="http://schemas.openxmlformats.org/drawingml/2006/main">
            <a:pPr>
              <a:defRPr sz="24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仅靠瞬时数值，难以区分未来路线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3943350"/>
          <a:ext xmlns:a="http://schemas.openxmlformats.org/drawingml/2006/main" cx="10820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191000"/>
                <a:gridCol w="367665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调度任务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未来运动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适合的切换倾向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驶往包装工位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一次穿越后继续前进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及时完成必要切换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边界往返巡检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短距离往返、反复跨界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抑制频繁来回切换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6286566-8F68-4144-B018-19E0FC28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应用前提：上游提供非结构化调度说明，且缺少可靠的结构化路线接口。</a:t>
            </a:r>
          </a:p>
        </p:txBody>
      </p:sp>
    </p:spTree>
    <p:extLst>
      <p:ext uri="{BB962C8B-B14F-4D97-AF65-F5344CB8AC3E}">
        <p14:creationId xmlns:p14="http://schemas.microsoft.com/office/powerpoint/2010/main" val="1199523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82588D7-0DD5-431A-8ED2-977F8DD1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A3 切换中的及时性与稳定性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B6970FE-D5D6-4DE6-BDA8-61B56B7C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邻区信号优势持续满足条件后，传统 RRC 流程触发切换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05DDAC9-CFBC-4990-BB85-E3DECD2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4b53e700ff4405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308CC9D-477B-46BD-AAAA-7E0D0D5D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H：迟滞裕量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2D6B330-D9FF-4941-B365-7291FE52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98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邻区信号需领先多少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FF068D4-78E7-48E4-AB63-0D915D41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TTT：触发等待时间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065FF69-C73A-4261-A5C8-5BC7015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624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该条件需持续多久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62EF09B-A3CF-4BB8-8241-70C4289F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012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更大的 H / TTT</a:t>
            </a:r>
          </a:p>
          <a:p xmlns:a="http://schemas.openxmlformats.org/drawingml/2006/main">
            <a:pPr>
              <a:defRPr sz="180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有利于过滤短暂跨界</a:t>
            </a:r>
          </a:p>
          <a:p xmlns:a="http://schemas.openxmlformats.org/drawingml/2006/main">
            <a:pPr>
              <a:defRPr sz="180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也可能推迟必要切换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2EA0ACD-193F-43D8-B92E-4D03EAA1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图示为 g1 的预设运动轨迹。策略需要区分“持续穿越”与“短时往返”。</a:t>
            </a:r>
          </a:p>
        </p:txBody>
      </p:sp>
    </p:spTree>
    <p:extLst>
      <p:ext uri="{BB962C8B-B14F-4D97-AF65-F5344CB8AC3E}">
        <p14:creationId xmlns:p14="http://schemas.microsoft.com/office/powerpoint/2010/main" val="574924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E6A7FCA4-C053-4A0C-AB4D-A4A0FF0D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实现方法：语义识别与无线策略分工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EC8EFF1-CFC4-4F64-8F64-F10F121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Decider：Jev 类开源决策模型（2B），一次前向选择任务语义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CC9A33-D953-48DB-9FBB-48B23D6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1981200"/>
          <a:ext xmlns:a="http://schemas.openxmlformats.org/drawingml/2006/main" cx="108204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5524500"/>
                <a:gridCol w="3057525"/>
              </a:tblGrid>
              <a:tr h="6524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操作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任务识别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读取当前 AGV 的生效调度说明</a:t>
                      </a:r>
                    </a:p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处理修订、否定与其他车辆干扰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穿越 或 巡检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冻结策略映射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使用校准集确定的条件策略</a:t>
                      </a:r>
                    </a:p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测试时保持映射不变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合法 H / TTT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传统协议执行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按既有 A3 测量、报告、切换流程运行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逐包指标与切换次数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8D61CB3-6818-4ABA-9AF1-4AC9DD11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穿越：H = 0 dB，TTT = 0 ms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4D8AF97-B379-4441-A5EA-ABB59230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巡检：H = 1 dB，TTT = 80 ms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4362EA2-1497-422B-A60E-73D02832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每个会话开始前决策一次。传统 A3 执行切换，模型负责提供任务语义。</a:t>
            </a:r>
          </a:p>
        </p:txBody>
      </p:sp>
    </p:spTree>
    <p:extLst>
      <p:ext uri="{BB962C8B-B14F-4D97-AF65-F5344CB8AC3E}">
        <p14:creationId xmlns:p14="http://schemas.microsoft.com/office/powerpoint/2010/main" val="1497510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EAB8A79-7053-4AF6-B978-022A8B6D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仿真配置：LTE 完整协议栈的 A3 切换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94AB12-9638-4DAE-9A40-585C4753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ns-3 3.46，LTE / EPC / X2，非理想 RRC 信令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0CDA467-F229-425C-AE17-E42F19CD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952625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343900"/>
              </a:tblGrid>
              <a:tr h="68961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网络与运动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个基站、1 个 UE，初始连接西侧基站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基站间距 250 / 300 / 375 m，速度 6 / 8 / 9 m/s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分组与时限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UDP 1200 B，每 1 ms 一包，9.6 Mbit/s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截止时间 20 ms，每次发送 23,000 包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会话与决策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 24 s，仿真停止于 24.1 s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流量从 1 s 发至 24 s，开始前推理 1 次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候选参数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 / TTT：0/0、1/80、2/160、3/256、6/320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单位分别为 dB 和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7232651-0E07-4C85-8012-0A8A283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高负载业务用于暴露切换成本，尚未按真实 AGV 控制报文校准。</a:t>
            </a:r>
          </a:p>
        </p:txBody>
      </p:sp>
    </p:spTree>
    <p:extLst>
      <p:ext uri="{BB962C8B-B14F-4D97-AF65-F5344CB8AC3E}">
        <p14:creationId xmlns:p14="http://schemas.microsoft.com/office/powerpoint/2010/main" val="385350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0D6519B-C758-4256-8893-D603306D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实验设计：冻结策略，再验证新语言样本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50E776B-57B4-474A-ACEF-16FE300E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210 次真实仿真，文本变体复用相同物理结果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AC1737-5081-412E-8779-3E8656F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851DF0-F822-4E2B-9814-BB153E3E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物理校准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42C9FCD-C364-4C7D-BDEF-5808B434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6 个场景 × 5 档配置 × 2 个随机种子</a:t>
            </a:r>
          </a:p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60 次仿真，冻结固定配置与条件映射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76C73D5-A5F6-4862-BCD3-0448B86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物理测试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087D083-FC6F-4EC4-982B-F3919B5C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575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相同 6 个场景，另用 5 个随机种子</a:t>
            </a:r>
          </a:p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150 次仿真，所有方案共享随机条件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50FB4D4-80C8-4F04-B319-F5F8FC75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语言确认集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E215C3D-5696-482E-8E0A-D1542445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148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48 条新文本 × 3 种几何 = 144 个输入</a:t>
            </a:r>
          </a:p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TF-IDF 词频特征 + 逻辑回归，以 32 条文本训练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D9EDCBC-AF8A-4CBB-8B19-36CDA0B6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各文本方案可见相同输入。改写复用物理轨迹，不作为新增独立仿真或独立分组。</a:t>
            </a:r>
          </a:p>
        </p:txBody>
      </p:sp>
    </p:spTree>
    <p:extLst>
      <p:ext uri="{BB962C8B-B14F-4D97-AF65-F5344CB8AC3E}">
        <p14:creationId xmlns:p14="http://schemas.microsoft.com/office/powerpoint/2010/main" val="49741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E80F2CE-C303-4238-9829-8A29D4E6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确认结果：相对同文本传统基线下降 74.5%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7EC50C-3E40-47AA-8F59-16FD41BA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主指标：丢包 + 收到但超过 20 ms 的分组，占全部发送包的比例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09CC65C-0BC5-43F9-B8B1-0949AA48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52450" y="2076450"/>
          <a:ext xmlns:a="http://schemas.openxmlformats.org/drawingml/2006/main" cx="8001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51e79474244dfb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2B9538F-4996-4F7F-B9C1-6DD0C944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74.5%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3AB520B-6263-47D1-A932-C973E650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相对 TF-IDF 下降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07E9491-70AA-4BC0-8DF4-2C8A0C53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38625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0.2391%</a:t>
            </a:r>
          </a:p>
          <a:p xmlns:a="http://schemas.openxmlformats.org/drawingml/2006/main">
            <a:pPr>
              <a:defRPr sz="255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降至 0.0610%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CA9F0B2-6E44-4F59-912D-697E8E2A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正确结构化意图参考为 0.0500%，仍优于 Decider。Qwen 的统计比较见下一页。</a:t>
            </a:r>
          </a:p>
        </p:txBody>
      </p:sp>
    </p:spTree>
    <p:extLst>
      <p:ext uri="{BB962C8B-B14F-4D97-AF65-F5344CB8AC3E}">
        <p14:creationId xmlns:p14="http://schemas.microsoft.com/office/powerpoint/2010/main" val="1483456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1E529EB-2A47-424B-B412-B766F11A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增益分析：信息价值与语义识别能力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6C9B86-9F29-43FD-BB1E-0B70855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差值为 Decider 超时/丢包率减基线，负值表示 Decider 更好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169BA4-A770-416C-A419-DC08372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2019300"/>
          <a:ext xmlns:a="http://schemas.openxmlformats.org/drawingml/2006/main" cx="108204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476500"/>
                <a:gridCol w="4152900"/>
              </a:tblGrid>
              <a:tr h="5667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比较基线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差值（百分点）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 成对置信区间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校准固定，无任务文本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-0.2536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-0.3978 至 -0.1050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TF-IDF，同任务文本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-0.1780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-0.3015 至 -0.0693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Qwen，单次前向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-0.0331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-0.0820 至 0.0000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825972C-71CF-45D6-AA37-04BC247B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相对固定配置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552AE9D-216E-4A1F-B17E-F3EB9333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增加了未来任务先验，改善路线不可辨识问题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E546B14-AFF4-41BB-9073-8B40E0B9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相对同文本 TF-IDF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12C9B3A-4CC9-4EEE-9EBB-272CFAE2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721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体现少标注条件下的语义识别收益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30D403A-D603-4FB9-B544-5E2DE5D2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Qwen 默认顺序的区间触及 0，目前只能报告更低的点估计。</a:t>
            </a:r>
          </a:p>
        </p:txBody>
      </p:sp>
    </p:spTree>
    <p:extLst>
      <p:ext uri="{BB962C8B-B14F-4D97-AF65-F5344CB8AC3E}">
        <p14:creationId xmlns:p14="http://schemas.microsoft.com/office/powerpoint/2010/main" val="969343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FBA25D2-32D8-4808-888F-108AAC1F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完整输入样例：驶往包装工位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9AE111-1DC6-43FA-98D3-5F9C9D92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同一数值观测下，调度文本提供后续运动先验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C765E9A-2E91-4F81-B05B-3314236A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1876425"/>
          <a:ext xmlns:a="http://schemas.openxmlformats.org/drawingml/2006/main" cx="10820400" cy="2352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2190750"/>
                <a:gridCol w="3152775"/>
              </a:tblGrid>
              <a:tr h="47053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输入字段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</a:tr>
              <a:tr h="47053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initial_x_m / initial_velocity_mps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−8 m / +8 m/s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距边界位置 / 向东速度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47053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cell_spacing_m / initial_serving_cell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 m / west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基站间距 / 初始服务小区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47053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packet_interval_ms / packet_bytes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ms / 1200 B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分组间隔 / 分组长度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47053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deadline_ms / session_duration_s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ms / 24 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分组截止时间 / 会话长度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B341247-31AC-41AB-BF03-2850F85B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dispatch_text：原始调度说明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2B75D04-6351-4F66-8108-E5587E39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“Advance into the other cell toward packaging.</a:t>
            </a:r>
          </a:p>
          <a:p xmlns:a="http://schemas.openxmlformats.org/drawingml/2006/main">
            <a:pPr>
              <a:defRPr sz="195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The itinerary includes no turnaround in this area.”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4E5DDC7-F75A-49CC-B821-B4EB4A60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中文释义：进入另一小区前往包装区，在这一区域不掉头。其余结果字段不进入推理。</a:t>
            </a:r>
          </a:p>
        </p:txBody>
      </p:sp>
    </p:spTree>
    <p:extLst>
      <p:ext uri="{BB962C8B-B14F-4D97-AF65-F5344CB8AC3E}">
        <p14:creationId xmlns:p14="http://schemas.microsoft.com/office/powerpoint/2010/main" val="1899704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01BD69B-786F-48D1-AB3D-599D4440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配对样例：只改变调度文本，策略随之改变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F1038BA-934B-47F3-AA88-2CF6286F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g1、随机运行 101，每个会话发送 23,000 包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AB4881-47E2-402A-9260-75A27BE0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1962150"/>
          <a:ext xmlns:a="http://schemas.openxmlformats.org/drawingml/2006/main" cx="108204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1905000"/>
                <a:gridCol w="2333625"/>
                <a:gridCol w="1666875"/>
                <a:gridCol w="1104900"/>
              </a:tblGrid>
              <a:tr h="5191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任务与方案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 H / TTT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超时/丢包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收到包 P99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切换次数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穿越 · 固定 / TF-IDF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dB / 80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381（1.6565%）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穿越 · 直接配置 Decider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dB / 160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691（3.0043%）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穿越 · 语义 Decider / Qwen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dB / 0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23（0.1000%）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巡检 · 沿用激进配置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dB / 0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287（1.2478%）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巡检 · 语义 Decider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dB / 80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0（0%）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F39C6DA-8BAA-46FA-ABED-A9E249B5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穿越：避免切换过迟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1AD3800-548D-4624-BF0D-ECDB02D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625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巡检：避免频繁来回切换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AE18A10-4C16-4B4D-BD0A-42BD24AA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巡检文本表示在两侧标记点间往返。穿越样例中的 Qwen 指已保存的生成/单次前向对照。</a:t>
            </a:r>
          </a:p>
        </p:txBody>
      </p:sp>
    </p:spTree>
    <p:extLst>
      <p:ext uri="{BB962C8B-B14F-4D97-AF65-F5344CB8AC3E}">
        <p14:creationId xmlns:p14="http://schemas.microsoft.com/office/powerpoint/2010/main" val="16062300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4D86681-8C96-492B-87BB-C3C9B634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Qwen 对照：顺序稳健性比速度差异更突出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3C18575-E866-4037-9FAA-64539897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Qwen3.5-2B-Base 使用相同输入、语义候选和冻结策略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9D546C-E726-4AD1-B86F-F45A34E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2028825"/>
          <a:ext xmlns:a="http://schemas.openxmlformats.org/drawingml/2006/main" cx="6286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59a4d786cb49e8"/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7200900" y="2190750"/>
          <a:ext xmlns:a="http://schemas.openxmlformats.org/drawingml/2006/main" cx="42672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1717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确认集推理时延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P50 / P95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Decider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183.5 / 210.6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单次前向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192.0 / 233.4 ms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C8F73E89-3F5A-4849-8B2B-663F9733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10100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同为单次前向时</a:t>
            </a:r>
          </a:p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中位速度仅约 1.05 倍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970237AD-C3D0-4E9C-8342-B5748017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先导集对生成式 Qwen 约快 6.3 倍，主要来自推理方式。CPU TF-IDF 约 0.6 ms。</a:t>
            </a:r>
          </a:p>
        </p:txBody>
      </p:sp>
    </p:spTree>
    <p:extLst>
      <p:ext uri="{BB962C8B-B14F-4D97-AF65-F5344CB8AC3E}">
        <p14:creationId xmlns:p14="http://schemas.microsoft.com/office/powerpoint/2010/main" val="18467057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DE2614B-0B6C-4179-AC8F-9D8D4F1B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直接数值配置缺少增益的原因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5EE2C5-0C13-4B51-B457-7F514797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现有消融支持接口与训练问题，不能据此断言模型内部缺少无线知识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83E24BD-4C39-4295-8564-7DBAF8AA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987FE9-82B7-42E8-80B0-CA036667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输入表达与动作映射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E0A456-DD27-413F-BDCE-7176550F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9072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更清晰的表达改善路线识别</a:t>
            </a:r>
          </a:p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直接五档配置仍倾向固定 H2 / T160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D551DA0-B751-41EB-8414-E06710E4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领域微调不足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8E162AF-4F92-4E71-874A-ED199155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旧 A3 LoRA 仅 16 次优化更新</a:t>
            </a:r>
          </a:p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固定选项顺序训练后存在顺序敏感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6F4F426-2248-45FF-9500-42A6FCC3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基线与目标约束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E8E8C7D-9387-45FD-BEFF-9BE55B97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958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强规则已接近有限候选集的可达上限</a:t>
            </a:r>
          </a:p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并列最优配置让单标签训练偏离网络损失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DF63BCF-71B2-4FFE-915F-0CF4EDC4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新 UC 使用基础 Decider。改善来自“语义识别 + 校准映射”的分工，未做新微调。</a:t>
            </a:r>
          </a:p>
        </p:txBody>
      </p:sp>
    </p:spTree>
    <p:extLst>
      <p:ext uri="{BB962C8B-B14F-4D97-AF65-F5344CB8AC3E}">
        <p14:creationId xmlns:p14="http://schemas.microsoft.com/office/powerpoint/2010/main" val="5583419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A24060-E976-4924-935E-BD6A65B6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当前边界与一个明确失败样例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2861EA6-7216-4CB6-8B34-31D237C8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确认集的 3 个 Decider 错误来自同一文本在 3 种几何下的重复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649955-8899-4374-9E35-02587FF5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366EA4-360A-4F3C-9972-F0DE21EB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“This AGV has a terminal eastward route.</a:t>
            </a:r>
          </a:p>
          <a:p xmlns:a="http://schemas.openxmlformats.org/drawingml/2006/main">
            <a:pPr>
              <a:defRPr sz="24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Another AGV handles the recurring boundary patrol.”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86D078-5D5D-409A-B907-75A060E9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861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86128"/>
                </a:solidFill>
                <a:latin typeface="Microsoft YaHei"/>
                <a:ea typeface="Microsoft YaHei"/>
                <a:cs typeface="Microsoft YaHei"/>
              </a:rPr>
              <a:t>误判原因：把另一辆 AGV 的巡检任务绑定到当前车辆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72590B0-E35E-4271-AC7D-AAF712C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D372E07-B28C-45E5-BE43-6C9C6421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771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合成英文任务、单 UE、固定传播、已知巡检轨迹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595597E-10C6-43E8-BF66-45F21418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实时性范围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4798C91-EC8E-4D29-BDDA-57176273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48275"/>
            <a:ext cx="771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会话前约 184 ms 决策，需要足够规划提前量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479BA5E-29E5-4A21-BC4A-D3C2FAF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67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LTE 软件系统仿真尚不能证明真实 RF、NR 或商用紧时延业务的可靠性。</a:t>
            </a:r>
          </a:p>
        </p:txBody>
      </p:sp>
    </p:spTree>
    <p:extLst>
      <p:ext uri="{BB962C8B-B14F-4D97-AF65-F5344CB8AC3E}">
        <p14:creationId xmlns:p14="http://schemas.microsoft.com/office/powerpoint/2010/main" val="9565171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71C48DE-DA9E-4CD3-875D-97492689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Future work：真实调度与无线闭环验证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4ECE346-CB59-4EEB-A9F3-56E9FB7B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下一阶段以同信息、强基线、完整成本的盲测为判据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B3A24D0-6883-406D-91FF-A09269C7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990725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572000"/>
                <a:gridCol w="4057650"/>
              </a:tblGrid>
              <a:tr h="790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下一步实验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通过条件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 真实任务接口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真实调度文本、车辆 ID、任务版本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地图与轨迹日志，跨模板盲测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比结构化路线接口与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充分训练的轻量分类器更有价值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  不确定执行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调度修订、轨迹偏离、多主体干扰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加入观测冲突与保守回退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收益在执行误差下保持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置信度能够支持安全回退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 无线系统扩展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UE、衰落/遮挡、负载变化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随后接实际协议栈和无线闭环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纳入推理与配置下发成本后</a:t>
                      </a:r>
                    </a:p>
                    <a:p>
                      <a:r>
                        <a:rPr sz="187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仍降低约束违约或综合成本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CA0298B-872D-4BD9-9C5E-D67C554B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若完整成本下增益消失，应否定该系统需要 Decider 的假设</a:t>
            </a:r>
          </a:p>
        </p:txBody>
      </p:sp>
    </p:spTree>
    <p:extLst>
      <p:ext uri="{BB962C8B-B14F-4D97-AF65-F5344CB8AC3E}">
        <p14:creationId xmlns:p14="http://schemas.microsoft.com/office/powerpoint/2010/main" val="9800574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A23B582-ED9F-4D8D-8DF6-AD1712CD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结论：语义先验可以改善受限 RRC 决策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FCE7511-292A-4BA5-A711-8BC773C1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最有潜力的场景：少标签、调度表述多变、缺少结构化路线接口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02F36C-2F33-48C6-9C7B-CCE709ED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044FC0B-527D-4E68-8575-2ED6CB3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74.5%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ED07C0E-86B0-427D-B635-A45EF892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337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相对同文本 TF-IDF，超时/丢包率下降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FBEF385-AFF7-4E6C-8E51-E02C118A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862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Decider 识别生效任务，校准策略提供无线参数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47FB3DF-82A4-4B9C-9C33-A2194EFA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8635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已有正确结构化意图时，传统控制器仍更好</a:t>
            </a:r>
          </a:p>
          <a:p xmlns:a="http://schemas.openxmlformats.org/drawingml/2006/main">
            <a:pPr>
              <a:defRPr sz="21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真实系统增益取决于任务接口、执行误差与完整开销</a:t>
            </a:r>
          </a:p>
        </p:txBody>
      </p:sp>
    </p:spTree>
    <p:extLst>
      <p:ext uri="{BB962C8B-B14F-4D97-AF65-F5344CB8AC3E}">
        <p14:creationId xmlns:p14="http://schemas.microsoft.com/office/powerpoint/2010/main" val="6308140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3F25869-9A88-49C9-8637-6FF11002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B3F"/>
                </a:solidFill>
                <a:latin typeface="Microsoft YaHei"/>
                <a:ea typeface="Microsoft YaHei"/>
                <a:cs typeface="Microsoft YaHei"/>
              </a:rPr>
              <a:t>附录：确认集性能与证据入口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0EE871-EF9B-4C44-9CBA-DA59B1B0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默认选项顺序。所有文本分类方案共用相同的意图到参数映射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15F005-BFDF-4CB5-A8AE-7957DCAC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A7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571625"/>
                <a:gridCol w="1857375"/>
                <a:gridCol w="1666875"/>
                <a:gridCol w="1685925"/>
                <a:gridCol w="1524000"/>
              </a:tblGrid>
              <a:tr h="4490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意图准确率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超时/丢包率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丢包率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P99（ms）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切换/会话</a:t>
                      </a:r>
                    </a:p>
                  </a:txBody>
                  <a:tcPr marL="133350" marR="95250" marT="85725" marB="76200">
                    <a:solidFill>
                      <a:srgbClr val="102B3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校准固定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0.3146%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0.0965%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6.97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改进关键词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52.08%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0.5282%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0.3134%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8.16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4.25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TF-IDF + 策略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81.25%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0.2391%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0.1444%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6.25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单次前向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91.67%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0.0941%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0.0433%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5.33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8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Decider + 策略</a:t>
                      </a:r>
                    </a:p>
                  </a:txBody>
                  <a:tcPr marL="133350" marR="95250" marT="85725" marB="76200"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8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97.92%</a:t>
                      </a:r>
                    </a:p>
                  </a:txBody>
                  <a:tcPr marL="133350" marR="95250" marT="85725" marB="76200"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8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0.0610%</a:t>
                      </a:r>
                    </a:p>
                  </a:txBody>
                  <a:tcPr marL="133350" marR="95250" marT="85725" marB="76200"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8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0.0353%</a:t>
                      </a:r>
                    </a:p>
                  </a:txBody>
                  <a:tcPr marL="133350" marR="95250" marT="85725" marB="76200"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8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5.08</a:t>
                      </a:r>
                    </a:p>
                  </a:txBody>
                  <a:tcPr marL="133350" marR="95250" marT="85725" marB="76200"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F8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133350" marR="95250" marT="85725" marB="76200">
                    <a:solidFill>
                      <a:srgbClr val="E3F2F1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已知结构化意图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0.0500%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0.0326%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2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133350" marR="95250" marT="85725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70555E1-5424-4253-A481-E615F273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29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6"/>
                </a:solidFill>
                <a:latin typeface="Microsoft YaHei"/>
                <a:ea typeface="Microsoft YaHei"/>
                <a:cs typeface="Microsoft YaHei"/>
              </a:rPr>
              <a:t>完整报告、原始输入输出与可复现代码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B46927F-3A8B-483A-9330-4AF08412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244"/>
                </a:solidFill>
                <a:latin typeface="Microsoft YaHei"/>
                <a:ea typeface="Microsoft YaHei"/>
                <a:cs typeface="Microsoft YaHei"/>
              </a:rPr>
              <a:t>github.com/qinyishcn/jev-rrc-optimization</a:t>
            </a:r>
          </a:p>
        </p:txBody>
      </p:sp>
    </p:spTree>
    <p:extLst>
      <p:ext uri="{BB962C8B-B14F-4D97-AF65-F5344CB8AC3E}">
        <p14:creationId xmlns:p14="http://schemas.microsoft.com/office/powerpoint/2010/main" val="1500608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2026-10-09T03:40:36.9080000Z</dcterms:created>
  <dcterms:modified xsi:type="dcterms:W3CDTF">2026-10-09T03:40:36.9080000Z</dcterms:modified>
</coreProperties>
</file>